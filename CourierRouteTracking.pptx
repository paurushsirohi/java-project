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474720" cy="914400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6080760"/>
            <a:ext cx="2560320" cy="777240"/>
          </a:xfrm>
          <a:prstGeom prst="rect">
            <a:avLst/>
          </a:prstGeom>
          <a:solidFill>
            <a:srgbClr val="5C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43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COURIER ROUTE</a:t>
            </a:r>
            <a:br/>
            <a:r>
              <a:t>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5F1F7"/>
                </a:solidFill>
                <a:latin typeface="Aptos"/>
              </a:defRPr>
            </a:pPr>
            <a:r>
              <a:t>Paurush Sirohi  —  2620090004</a:t>
            </a:r>
          </a:p>
          <a:p>
            <a:pPr>
              <a:spcAft>
                <a:spcPts val="800"/>
              </a:spcAft>
              <a:defRPr sz="1900">
                <a:solidFill>
                  <a:srgbClr val="F5F1F7"/>
                </a:solidFill>
                <a:latin typeface="Aptos"/>
              </a:defRPr>
            </a:pPr>
            <a:r>
              <a:t>Gubbala Krishna Praneeth  —  2620090037</a:t>
            </a:r>
          </a:p>
          <a:p>
            <a:pPr>
              <a:spcAft>
                <a:spcPts val="800"/>
              </a:spcAft>
              <a:defRPr sz="1600">
                <a:solidFill>
                  <a:srgbClr val="F5F1F7"/>
                </a:solidFill>
                <a:latin typeface="Aptos"/>
              </a:defRPr>
            </a:pPr>
            <a:r>
              <a:t>Department: CSIT</a:t>
            </a:r>
          </a:p>
          <a:p>
            <a:pPr>
              <a:spcAft>
                <a:spcPts val="800"/>
              </a:spcAft>
              <a:defRPr sz="1600">
                <a:solidFill>
                  <a:srgbClr val="F5F1F7"/>
                </a:solidFill>
                <a:latin typeface="Aptos"/>
              </a:defRPr>
            </a:pPr>
            <a:r>
              <a:t>Faculty Guide: Gopi Krishna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0ADFF"/>
                </a:solidFill>
              </a:defRPr>
            </a:pPr>
            <a:r>
              <a:t>Java-based console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25196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What is the project?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96312"/>
            <a:ext cx="4800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A simple Java application that tracks a parcel through a predefined courier route from the warehouse to the customer's address.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425196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2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96312"/>
            <a:ext cx="4800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The user enters a parcel ID, views the assigned route, moves the parcel between stops, checks its status, and confirms delivery.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Courier parcels pass through multiple locations before reaching the customer.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Without a simple tracking mechanism, the current location and delivery status can be difficult to monitor.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The project provides a basic, interactive way to represent parcel movement and status updates.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It demonstrates how Java can be used to model a real-world tracking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96596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Track parcel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Identify each parcel using a unique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29000" cy="196596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9047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476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Show 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04872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Display Warehouse → Sorting Hub → Customer Address.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25880"/>
            <a:ext cx="3429000" cy="196596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49047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94767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Update movement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404872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Move the parcel to the next stop through user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429000" cy="196596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Check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36592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View the current delivery status at any point.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657600"/>
            <a:ext cx="3429000" cy="196596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822191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7939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Confirm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36592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Mark the parcel as DELIVERED or FAILED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57600"/>
            <a:ext cx="3429000" cy="196596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822191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27939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Practice Java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736592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Use arrays, loops, switch-case, Scanner and conditions.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4.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Basic/manual tracking may depend on separate updates at each stage.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Users may not have a simple view of the parcel's current stop and status.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Status changes can be harder to represent consistently.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A lightweight educational simulation helps demonstrate the core tracking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5.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1F7"/>
                </a:solidFill>
                <a:latin typeface="Aptos"/>
              </a:defRPr>
            </a:pPr>
            <a:r>
              <a:t>• A Java console-based courier tracking system.</a:t>
            </a:r>
          </a:p>
          <a:p>
            <a:pPr>
              <a:spcAft>
                <a:spcPts val="1400"/>
              </a:spcAft>
              <a:defRPr sz="2000">
                <a:solidFill>
                  <a:srgbClr val="F5F1F7"/>
                </a:solidFill>
                <a:latin typeface="Aptos"/>
              </a:defRPr>
            </a:pPr>
            <a:r>
              <a:t>• Stores the route in a String array: Warehouse, Sorting Hub and Customer Address.</a:t>
            </a:r>
          </a:p>
          <a:p>
            <a:pPr>
              <a:spcAft>
                <a:spcPts val="1400"/>
              </a:spcAft>
              <a:defRPr sz="2000">
                <a:solidFill>
                  <a:srgbClr val="F5F1F7"/>
                </a:solidFill>
                <a:latin typeface="Aptos"/>
              </a:defRPr>
            </a:pPr>
            <a:r>
              <a:t>• Uses Scanner for parcel ID and user actions.</a:t>
            </a:r>
          </a:p>
          <a:p>
            <a:pPr>
              <a:spcAft>
                <a:spcPts val="1400"/>
              </a:spcAft>
              <a:defRPr sz="2000">
                <a:solidFill>
                  <a:srgbClr val="F5F1F7"/>
                </a:solidFill>
                <a:latin typeface="Aptos"/>
              </a:defRPr>
            </a:pPr>
            <a:r>
              <a:t>• Uses a loop and switch-case to move the parcel or check its status.</a:t>
            </a:r>
          </a:p>
          <a:p>
            <a:pPr>
              <a:spcAft>
                <a:spcPts val="1400"/>
              </a:spcAft>
              <a:defRPr sz="2000">
                <a:solidFill>
                  <a:srgbClr val="F5F1F7"/>
                </a:solidFill>
                <a:latin typeface="Aptos"/>
              </a:defRPr>
            </a:pPr>
            <a:r>
              <a:t>• At the destination, the user confirms delivery and the final status is updated.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2011680" cy="210312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2199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79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36391"/>
            <a:ext cx="155448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Parcel ID</a:t>
            </a:r>
            <a:br/>
            <a:r>
              <a:t>Action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42032" y="2743200"/>
            <a:ext cx="320040" cy="502920"/>
          </a:xfrm>
          <a:prstGeom prst="rightArrow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2057400"/>
            <a:ext cx="2011680" cy="210312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22199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79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Route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36391"/>
            <a:ext cx="155448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String array</a:t>
            </a:r>
            <a:br/>
            <a:r>
              <a:t>3 stops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28031" y="2743200"/>
            <a:ext cx="320040" cy="502920"/>
          </a:xfrm>
          <a:prstGeom prst="rightArrow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2057400"/>
            <a:ext cx="2011680" cy="210312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22199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79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Tracking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136391"/>
            <a:ext cx="155448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Loop + switch</a:t>
            </a:r>
            <a:br/>
            <a:r>
              <a:t>Stop index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14031" y="2743200"/>
            <a:ext cx="320040" cy="502920"/>
          </a:xfrm>
          <a:prstGeom prst="rightArrow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2057400"/>
            <a:ext cx="2011680" cy="210312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22199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679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Status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136391"/>
            <a:ext cx="155448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REGISTERED</a:t>
            </a:r>
            <a:br/>
            <a:r>
              <a:t>IN_TRANSIT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0032" y="2743200"/>
            <a:ext cx="320040" cy="502920"/>
          </a:xfrm>
          <a:prstGeom prst="rightArrow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46920" y="2057400"/>
            <a:ext cx="2011680" cy="2103120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22199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AD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6791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Final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136391"/>
            <a:ext cx="155448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DELIVERED /</a:t>
            </a:r>
            <a:br/>
            <a:r>
              <a:t>FAILED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E0ADFF"/>
                </a:solidFill>
              </a:defRPr>
            </a:pPr>
            <a:r>
              <a:t>Flow: Input → Route → Tracking → Status → Delivery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7.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1353312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Parcel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Accepts the parcel number from the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303520" cy="1353312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Assigned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8424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Shows all three courier stops.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62072"/>
            <a:ext cx="5303520" cy="1353312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Move to Next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79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Advances the parcel through the route.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62072"/>
            <a:ext cx="5303520" cy="1353312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0906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Check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79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Displays the current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89704"/>
            <a:ext cx="5303520" cy="1353312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18304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Delivery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3951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Accepts yes/no confirmation at destination.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489704"/>
            <a:ext cx="5303520" cy="1353312"/>
          </a:xfrm>
          <a:prstGeom prst="roundRect">
            <a:avLst/>
          </a:prstGeom>
          <a:solidFill>
            <a:srgbClr val="2D1D32"/>
          </a:solidFill>
          <a:ln>
            <a:solidFill>
              <a:srgbClr val="4B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718304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Failure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23951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BEB2C4"/>
                </a:solidFill>
                <a:latin typeface="Aptos"/>
              </a:defRPr>
            </a:pPr>
            <a:r>
              <a:t>Sets status to FAILED DELIVERY when delivery is not confirmed.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8. Implementation – Java Code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79" y="1852184"/>
            <a:ext cx="5623560" cy="3656550"/>
          </a:xfrm>
          <a:prstGeom prst="rect">
            <a:avLst/>
          </a:prstGeom>
          <a:noFill/>
          <a:ln w="15240">
            <a:solidFill>
              <a:srgbClr val="5A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918118"/>
            <a:ext cx="5623560" cy="3524683"/>
          </a:xfrm>
          <a:prstGeom prst="rect">
            <a:avLst/>
          </a:prstGeom>
          <a:noFill/>
          <a:ln w="15240">
            <a:solidFill>
              <a:srgbClr val="5A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EB2C4"/>
                </a:solidFill>
              </a:defRPr>
            </a:pPr>
            <a:r>
              <a:t>Key concepts: Scanner • String array • while loop • switch-case • status variables • if/else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  <p:pic>
        <p:nvPicPr>
          <p:cNvPr id="11" name="Picture 10" descr="courier_code_par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34440"/>
            <a:ext cx="5623560" cy="4892040"/>
          </a:xfrm>
          <a:prstGeom prst="rect">
            <a:avLst/>
          </a:prstGeom>
        </p:spPr>
      </p:pic>
      <p:pic>
        <p:nvPicPr>
          <p:cNvPr id="12" name="Picture 11" descr="courier_code_par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34440"/>
            <a:ext cx="56235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9. Output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5" name="Picture 4" descr="Screenshot 2026-09-30 at 4.59.00 P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914" y="1234440"/>
            <a:ext cx="4873691" cy="15087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43914" y="1234440"/>
            <a:ext cx="4873691" cy="1508759"/>
          </a:xfrm>
          <a:prstGeom prst="rect">
            <a:avLst/>
          </a:prstGeom>
          <a:noFill/>
          <a:ln w="15240">
            <a:solidFill>
              <a:srgbClr val="5A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30 at 4.59.11 PM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957" y="2880360"/>
            <a:ext cx="7185605" cy="15087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87957" y="2880360"/>
            <a:ext cx="7185605" cy="1508759"/>
          </a:xfrm>
          <a:prstGeom prst="rect">
            <a:avLst/>
          </a:prstGeom>
          <a:noFill/>
          <a:ln w="15240">
            <a:solidFill>
              <a:srgbClr val="5A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 2026-09-30 at 4.59.21 PM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016" y="4526280"/>
            <a:ext cx="6991486" cy="150875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85016" y="4526280"/>
            <a:ext cx="6991486" cy="1508759"/>
          </a:xfrm>
          <a:prstGeom prst="rect">
            <a:avLst/>
          </a:prstGeom>
          <a:noFill/>
          <a:ln w="15240">
            <a:solidFill>
              <a:srgbClr val="5A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10.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Add a graphical user interface or web/mobile interface.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Store parcel records in a database instead of using only runtime data.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Add estimated delivery time and real-time location updates.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Support multiple parcels and multiple delivery routes.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Add login, notifications and delivery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566928"/>
          </a:xfrm>
          <a:prstGeom prst="rect">
            <a:avLst/>
          </a:prstGeom>
          <a:solidFill>
            <a:srgbClr val="975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EB2C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Courier Route Tracking demonstrates a complete basic parcel-tracking workflow using Java.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The system represents route movement using an array and controls user interaction with loops and switch-case.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It successfully tracks a parcel from registration through intermediate stops to the final delivery result.</a:t>
            </a:r>
          </a:p>
          <a:p>
            <a:pPr>
              <a:spcAft>
                <a:spcPts val="1400"/>
              </a:spcAft>
              <a:defRPr sz="2100">
                <a:solidFill>
                  <a:srgbClr val="F5F1F7"/>
                </a:solidFill>
                <a:latin typeface="Aptos"/>
              </a:defRPr>
            </a:pPr>
            <a:r>
              <a:t>• The project provides a foundation for developing a larger, database-driven courier tracking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EB2C4"/>
                </a:solidFill>
                <a:latin typeface="Aptos"/>
              </a:defRPr>
            </a:pPr>
            <a:r>
              <a:t>Courier Route Tracking  •  Paurush Sirohi &amp; Gubbala Krishna Praneeth  •  CSIT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7180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900">
                <a:solidFill>
                  <a:srgbClr val="F5F1F7"/>
                </a:solidFill>
                <a:latin typeface="Aptos"/>
              </a:defRPr>
            </a:pPr>
            <a:r>
              <a:t>Paurush Sirohi  •  2620090004</a:t>
            </a:r>
          </a:p>
          <a:p>
            <a:pPr algn="ctr">
              <a:spcAft>
                <a:spcPts val="800"/>
              </a:spcAft>
              <a:defRPr sz="1900">
                <a:solidFill>
                  <a:srgbClr val="F5F1F7"/>
                </a:solidFill>
                <a:latin typeface="Aptos"/>
              </a:defRPr>
            </a:pPr>
            <a:r>
              <a:t>Gubbala Krishna Praneeth  •  2620090037</a:t>
            </a:r>
          </a:p>
          <a:p>
            <a:pPr algn="ctr">
              <a:spcAft>
                <a:spcPts val="800"/>
              </a:spcAft>
              <a:defRPr sz="1700">
                <a:solidFill>
                  <a:srgbClr val="F5F1F7"/>
                </a:solidFill>
                <a:latin typeface="Aptos"/>
              </a:defRPr>
            </a:pPr>
            <a:r>
              <a:t>Faculty Guide: Gopi Krishna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8006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ADFF"/>
                </a:solidFill>
              </a:defRPr>
            </a:pPr>
            <a:r>
              <a:t>Courier Route Tracking • Java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