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8" r:id="rId4"/>
    <p:sldMasterId id="214748366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3453c5969e151228_3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h3453c5969e151228_3_40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3453c5969e151228_3_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h3453c5969e151228_3_52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3453c5969e151228_3_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h3453c5969e151228_3_67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3453c5969e151228_3_8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h3453c5969e151228_3_84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3453c5969e151228_3_1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h3453c5969e151228_3_107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h3453c5969e151228_3_1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h3453c5969e151228_3_126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h3453c5969e151228_3_1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h3453c5969e151228_3_145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h3453c5969e151228_3_1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h3453c5969e151228_3_154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3453c5969e151228_3_1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h3453c5969e151228_3_163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h3453c5969e151228_3_1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h3453c5969e151228_3_178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514886" y="1597819"/>
            <a:ext cx="5835379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1029773" y="2914650"/>
            <a:ext cx="4805606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343258" y="205978"/>
            <a:ext cx="6178636" cy="857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343258" y="1200150"/>
            <a:ext cx="6178636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542299" y="3305175"/>
            <a:ext cx="5835379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  <a:defRPr b="1" sz="3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542299" y="2180035"/>
            <a:ext cx="5835379" cy="1125141"/>
          </a:xfrm>
          <a:prstGeom prst="rect">
            <a:avLst/>
          </a:prstGeom>
          <a:noFill/>
          <a:ln>
            <a:noFill/>
          </a:ln>
        </p:spPr>
        <p:txBody>
          <a:bodyPr anchorCtr="0" anchor="b" bIns="34300" lIns="34300" spcFirstLastPara="1" rIns="34300" wrap="square" tIns="3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Calibri"/>
              <a:buNone/>
              <a:defRPr sz="1500">
                <a:solidFill>
                  <a:srgbClr val="888888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343258" y="205978"/>
            <a:ext cx="6178636" cy="857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343258" y="1200150"/>
            <a:ext cx="30321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/>
            </a:lvl1pPr>
            <a:lvl2pPr indent="-3619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–"/>
              <a:defRPr sz="2100"/>
            </a:lvl2pPr>
            <a:lvl3pPr indent="-3619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  <a:defRPr sz="2100"/>
            </a:lvl3pPr>
            <a:lvl4pPr indent="-3619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–"/>
              <a:defRPr sz="2100"/>
            </a:lvl4pPr>
            <a:lvl5pPr indent="-3619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100"/>
              <a:buChar char="»"/>
              <a:defRPr sz="21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43258" y="205978"/>
            <a:ext cx="6178636" cy="857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343258" y="1151334"/>
            <a:ext cx="303330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300" lIns="34300" spcFirstLastPara="1" rIns="34300" wrap="square" tIns="3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sz="18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sz="18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1" sz="18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2" type="body"/>
          </p:nvPr>
        </p:nvSpPr>
        <p:spPr>
          <a:xfrm>
            <a:off x="3487401" y="1151334"/>
            <a:ext cx="303449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300" lIns="34300" spcFirstLastPara="1" rIns="34300" wrap="square" tIns="343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43258" y="205978"/>
            <a:ext cx="6178636" cy="857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343258" y="204788"/>
            <a:ext cx="2258588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300" lIns="34300" spcFirstLastPara="1" rIns="34300" wrap="square" tIns="343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  <a:defRPr b="1"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2684083" y="204788"/>
            <a:ext cx="383781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343257" y="1076325"/>
            <a:ext cx="2258589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1345618" y="3600450"/>
            <a:ext cx="4119091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300" lIns="34300" spcFirstLastPara="1" rIns="34300" wrap="square" tIns="343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  <a:defRPr b="1"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/>
          <p:nvPr>
            <p:ph idx="2" type="pic"/>
          </p:nvPr>
        </p:nvSpPr>
        <p:spPr>
          <a:xfrm>
            <a:off x="1345618" y="459581"/>
            <a:ext cx="4119091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1345618" y="4025503"/>
            <a:ext cx="4119091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sz="11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  <a:defRPr sz="11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69056"/>
            <a:ext cx="8229600" cy="1131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327723" y="4811070"/>
            <a:ext cx="194170" cy="18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-1" y="0"/>
            <a:ext cx="123574" cy="5143500"/>
          </a:xfrm>
          <a:prstGeom prst="rect">
            <a:avLst/>
          </a:prstGeom>
          <a:solidFill>
            <a:srgbClr val="22D3EE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3"/>
          <p:cNvSpPr txBox="1"/>
          <p:nvPr/>
        </p:nvSpPr>
        <p:spPr>
          <a:xfrm>
            <a:off x="652189" y="857249"/>
            <a:ext cx="7757621" cy="2400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1100"/>
              <a:buFont typeface="Arial"/>
              <a:buNone/>
            </a:pPr>
            <a:r>
              <a:rPr b="1" i="0" lang="en-GB" sz="11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JAVA MINI PROJECT  •  PROJECT 22</a:t>
            </a:r>
            <a:endParaRPr sz="1100"/>
          </a:p>
        </p:txBody>
      </p:sp>
      <p:sp>
        <p:nvSpPr>
          <p:cNvPr id="96" name="Google Shape;96;p23"/>
          <p:cNvSpPr txBox="1"/>
          <p:nvPr/>
        </p:nvSpPr>
        <p:spPr>
          <a:xfrm>
            <a:off x="652189" y="1371599"/>
            <a:ext cx="7826273" cy="102108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900"/>
              <a:buFont typeface="Arial"/>
              <a:buNone/>
            </a:pPr>
            <a:r>
              <a:rPr b="1" i="0" lang="en-GB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Courier Management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2900"/>
              <a:buFont typeface="Arial"/>
              <a:buNone/>
            </a:pPr>
            <a:r>
              <a:rPr b="1" i="0" lang="en-GB" sz="29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System</a:t>
            </a:r>
            <a:endParaRPr sz="1100"/>
          </a:p>
        </p:txBody>
      </p:sp>
      <p:sp>
        <p:nvSpPr>
          <p:cNvPr id="97" name="Google Shape;97;p23"/>
          <p:cNvSpPr txBox="1"/>
          <p:nvPr/>
        </p:nvSpPr>
        <p:spPr>
          <a:xfrm>
            <a:off x="686514" y="2743199"/>
            <a:ext cx="7345713" cy="29718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Arial"/>
              <a:buNone/>
            </a:pPr>
            <a:r>
              <a:rPr b="0" i="0" lang="en-GB" sz="15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Parcel tracking using routes, loops, switch-case, and status updates</a:t>
            </a:r>
            <a:endParaRPr sz="1100"/>
          </a:p>
        </p:txBody>
      </p:sp>
      <p:sp>
        <p:nvSpPr>
          <p:cNvPr id="98" name="Google Shape;98;p23"/>
          <p:cNvSpPr txBox="1"/>
          <p:nvPr/>
        </p:nvSpPr>
        <p:spPr>
          <a:xfrm>
            <a:off x="686514" y="3874769"/>
            <a:ext cx="7345713" cy="2400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Problem Solving Using Programming (Java)</a:t>
            </a:r>
            <a:endParaRPr sz="1100"/>
          </a:p>
        </p:txBody>
      </p:sp>
      <p:sp>
        <p:nvSpPr>
          <p:cNvPr id="99" name="Google Shape;99;p23"/>
          <p:cNvSpPr txBox="1"/>
          <p:nvPr/>
        </p:nvSpPr>
        <p:spPr>
          <a:xfrm>
            <a:off x="652189" y="4251959"/>
            <a:ext cx="7345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Student Name: </a:t>
            </a:r>
            <a:r>
              <a:rPr lang="en-GB" sz="900">
                <a:solidFill>
                  <a:srgbClr val="94A3B8"/>
                </a:solidFill>
              </a:rPr>
              <a:t>Krishna Praneeth, Paurush Sirohi</a:t>
            </a:r>
            <a:r>
              <a:rPr b="0" i="0" lang="en-GB" sz="9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  Roll No.: </a:t>
            </a:r>
            <a:r>
              <a:rPr lang="en-GB" sz="900">
                <a:solidFill>
                  <a:srgbClr val="94A3B8"/>
                </a:solidFill>
              </a:rPr>
              <a:t>2620090037, 2620090004</a:t>
            </a:r>
            <a:endParaRPr sz="1100"/>
          </a:p>
        </p:txBody>
      </p:sp>
      <p:sp>
        <p:nvSpPr>
          <p:cNvPr id="100" name="Google Shape;100;p23"/>
          <p:cNvSpPr txBox="1"/>
          <p:nvPr/>
        </p:nvSpPr>
        <p:spPr>
          <a:xfrm>
            <a:off x="514886" y="4869180"/>
            <a:ext cx="8100878" cy="1733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PROJECT 22  •  COURIER MANAGEMENT SYSTEM</a:t>
            </a:r>
            <a:endParaRPr sz="1100"/>
          </a:p>
        </p:txBody>
      </p:sp>
      <p:sp>
        <p:nvSpPr>
          <p:cNvPr id="101" name="Google Shape;101;p23"/>
          <p:cNvSpPr txBox="1"/>
          <p:nvPr/>
        </p:nvSpPr>
        <p:spPr>
          <a:xfrm>
            <a:off x="8375484" y="4841748"/>
            <a:ext cx="274607" cy="18288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/>
        </p:nvSpPr>
        <p:spPr>
          <a:xfrm>
            <a:off x="480560" y="308610"/>
            <a:ext cx="8169531" cy="4019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1. Problem Statement</a:t>
            </a:r>
            <a:endParaRPr sz="1100"/>
          </a:p>
        </p:txBody>
      </p:sp>
      <p:sp>
        <p:nvSpPr>
          <p:cNvPr id="107" name="Google Shape;107;p24"/>
          <p:cNvSpPr txBox="1"/>
          <p:nvPr/>
        </p:nvSpPr>
        <p:spPr>
          <a:xfrm>
            <a:off x="501155" y="788670"/>
            <a:ext cx="8032228" cy="23050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 console-based demonstration of a parcel’s journey from warehouse to customer.</a:t>
            </a:r>
            <a:endParaRPr sz="1100"/>
          </a:p>
        </p:txBody>
      </p:sp>
      <p:sp>
        <p:nvSpPr>
          <p:cNvPr id="108" name="Google Shape;108;p24"/>
          <p:cNvSpPr/>
          <p:nvPr/>
        </p:nvSpPr>
        <p:spPr>
          <a:xfrm>
            <a:off x="549211" y="1337309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4"/>
          <p:cNvSpPr txBox="1"/>
          <p:nvPr/>
        </p:nvSpPr>
        <p:spPr>
          <a:xfrm>
            <a:off x="755166" y="1405888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Courier staff need a simple way to track a parcel through multiple delivery stops.</a:t>
            </a:r>
            <a:endParaRPr sz="1100"/>
          </a:p>
        </p:txBody>
      </p:sp>
      <p:sp>
        <p:nvSpPr>
          <p:cNvPr id="110" name="Google Shape;110;p24"/>
          <p:cNvSpPr/>
          <p:nvPr/>
        </p:nvSpPr>
        <p:spPr>
          <a:xfrm>
            <a:off x="549211" y="1940813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4"/>
          <p:cNvSpPr txBox="1"/>
          <p:nvPr/>
        </p:nvSpPr>
        <p:spPr>
          <a:xfrm>
            <a:off x="755166" y="2009394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The system should show the assigned route and the parcel’s current status.</a:t>
            </a:r>
            <a:endParaRPr sz="1100"/>
          </a:p>
        </p:txBody>
      </p:sp>
      <p:sp>
        <p:nvSpPr>
          <p:cNvPr id="112" name="Google Shape;112;p24"/>
          <p:cNvSpPr/>
          <p:nvPr/>
        </p:nvSpPr>
        <p:spPr>
          <a:xfrm>
            <a:off x="549211" y="2544317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4"/>
          <p:cNvSpPr txBox="1"/>
          <p:nvPr/>
        </p:nvSpPr>
        <p:spPr>
          <a:xfrm>
            <a:off x="755166" y="2612898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Users can move the parcel forward, check its status, and confirm the final delivery.</a:t>
            </a:r>
            <a:endParaRPr sz="1100"/>
          </a:p>
        </p:txBody>
      </p:sp>
      <p:sp>
        <p:nvSpPr>
          <p:cNvPr id="114" name="Google Shape;114;p24"/>
          <p:cNvSpPr/>
          <p:nvPr/>
        </p:nvSpPr>
        <p:spPr>
          <a:xfrm>
            <a:off x="549211" y="3147822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4"/>
          <p:cNvSpPr txBox="1"/>
          <p:nvPr/>
        </p:nvSpPr>
        <p:spPr>
          <a:xfrm>
            <a:off x="755166" y="3216401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The program should handle invalid menu choices and incorrect delivery responses.</a:t>
            </a:r>
            <a:endParaRPr sz="1100"/>
          </a:p>
        </p:txBody>
      </p:sp>
      <p:sp>
        <p:nvSpPr>
          <p:cNvPr id="116" name="Google Shape;116;p24"/>
          <p:cNvSpPr txBox="1"/>
          <p:nvPr/>
        </p:nvSpPr>
        <p:spPr>
          <a:xfrm>
            <a:off x="514886" y="4869180"/>
            <a:ext cx="8100878" cy="1733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PROJECT 22  •  COURIER MANAGEMENT SYSTEM</a:t>
            </a:r>
            <a:endParaRPr sz="1100"/>
          </a:p>
        </p:txBody>
      </p:sp>
      <p:sp>
        <p:nvSpPr>
          <p:cNvPr id="117" name="Google Shape;117;p24"/>
          <p:cNvSpPr txBox="1"/>
          <p:nvPr/>
        </p:nvSpPr>
        <p:spPr>
          <a:xfrm>
            <a:off x="8375484" y="4841748"/>
            <a:ext cx="274607" cy="18288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/>
        </p:nvSpPr>
        <p:spPr>
          <a:xfrm>
            <a:off x="480560" y="308610"/>
            <a:ext cx="8169531" cy="4019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2. Objectives</a:t>
            </a:r>
            <a:endParaRPr sz="1100"/>
          </a:p>
        </p:txBody>
      </p:sp>
      <p:sp>
        <p:nvSpPr>
          <p:cNvPr id="123" name="Google Shape;123;p25"/>
          <p:cNvSpPr txBox="1"/>
          <p:nvPr/>
        </p:nvSpPr>
        <p:spPr>
          <a:xfrm>
            <a:off x="501155" y="788670"/>
            <a:ext cx="8032228" cy="23050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project models the basic workflow of a courier tracking system.</a:t>
            </a:r>
            <a:endParaRPr sz="1100"/>
          </a:p>
        </p:txBody>
      </p:sp>
      <p:sp>
        <p:nvSpPr>
          <p:cNvPr id="124" name="Google Shape;124;p25"/>
          <p:cNvSpPr/>
          <p:nvPr/>
        </p:nvSpPr>
        <p:spPr>
          <a:xfrm>
            <a:off x="549211" y="1337309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5"/>
          <p:cNvSpPr txBox="1"/>
          <p:nvPr/>
        </p:nvSpPr>
        <p:spPr>
          <a:xfrm>
            <a:off x="755166" y="1405888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Accept a parcel ID from the user.</a:t>
            </a:r>
            <a:endParaRPr sz="1100"/>
          </a:p>
        </p:txBody>
      </p:sp>
      <p:sp>
        <p:nvSpPr>
          <p:cNvPr id="126" name="Google Shape;126;p25"/>
          <p:cNvSpPr/>
          <p:nvPr/>
        </p:nvSpPr>
        <p:spPr>
          <a:xfrm>
            <a:off x="549211" y="1940813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5"/>
          <p:cNvSpPr txBox="1"/>
          <p:nvPr/>
        </p:nvSpPr>
        <p:spPr>
          <a:xfrm>
            <a:off x="755166" y="2009394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Display the route: Warehouse → Sorting Hub → Customer Address.</a:t>
            </a:r>
            <a:endParaRPr sz="1100"/>
          </a:p>
        </p:txBody>
      </p:sp>
      <p:sp>
        <p:nvSpPr>
          <p:cNvPr id="128" name="Google Shape;128;p25"/>
          <p:cNvSpPr/>
          <p:nvPr/>
        </p:nvSpPr>
        <p:spPr>
          <a:xfrm>
            <a:off x="549211" y="2544317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5"/>
          <p:cNvSpPr txBox="1"/>
          <p:nvPr/>
        </p:nvSpPr>
        <p:spPr>
          <a:xfrm>
            <a:off x="755166" y="2612898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Update status as the parcel moves between stops.</a:t>
            </a:r>
            <a:endParaRPr sz="1100"/>
          </a:p>
        </p:txBody>
      </p:sp>
      <p:sp>
        <p:nvSpPr>
          <p:cNvPr id="130" name="Google Shape;130;p25"/>
          <p:cNvSpPr/>
          <p:nvPr/>
        </p:nvSpPr>
        <p:spPr>
          <a:xfrm>
            <a:off x="549211" y="3147822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755166" y="3216401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Allow the user to check status at any point.</a:t>
            </a:r>
            <a:endParaRPr sz="1100"/>
          </a:p>
        </p:txBody>
      </p:sp>
      <p:sp>
        <p:nvSpPr>
          <p:cNvPr id="132" name="Google Shape;132;p25"/>
          <p:cNvSpPr/>
          <p:nvPr/>
        </p:nvSpPr>
        <p:spPr>
          <a:xfrm>
            <a:off x="549211" y="3751325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755166" y="3819905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Record the final outcome as DELIVERED or FAILED_DELIVERY.</a:t>
            </a:r>
            <a:endParaRPr sz="1100"/>
          </a:p>
        </p:txBody>
      </p:sp>
      <p:sp>
        <p:nvSpPr>
          <p:cNvPr id="134" name="Google Shape;134;p25"/>
          <p:cNvSpPr txBox="1"/>
          <p:nvPr/>
        </p:nvSpPr>
        <p:spPr>
          <a:xfrm>
            <a:off x="514886" y="4869180"/>
            <a:ext cx="8100878" cy="1733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PROJECT 22  •  COURIER MANAGEMENT SYSTEM</a:t>
            </a:r>
            <a:endParaRPr sz="1100"/>
          </a:p>
        </p:txBody>
      </p:sp>
      <p:sp>
        <p:nvSpPr>
          <p:cNvPr id="135" name="Google Shape;135;p25"/>
          <p:cNvSpPr txBox="1"/>
          <p:nvPr/>
        </p:nvSpPr>
        <p:spPr>
          <a:xfrm>
            <a:off x="8375484" y="4841748"/>
            <a:ext cx="274607" cy="18288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/>
        </p:nvSpPr>
        <p:spPr>
          <a:xfrm>
            <a:off x="480560" y="308610"/>
            <a:ext cx="8169531" cy="4019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3. System Workflow</a:t>
            </a:r>
            <a:endParaRPr sz="1100"/>
          </a:p>
        </p:txBody>
      </p:sp>
      <p:sp>
        <p:nvSpPr>
          <p:cNvPr id="141" name="Google Shape;141;p26"/>
          <p:cNvSpPr txBox="1"/>
          <p:nvPr/>
        </p:nvSpPr>
        <p:spPr>
          <a:xfrm>
            <a:off x="501155" y="788670"/>
            <a:ext cx="8032228" cy="23050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Parcel journey and decision points</a:t>
            </a:r>
            <a:endParaRPr sz="1100"/>
          </a:p>
        </p:txBody>
      </p:sp>
      <p:sp>
        <p:nvSpPr>
          <p:cNvPr id="142" name="Google Shape;142;p26"/>
          <p:cNvSpPr/>
          <p:nvPr/>
        </p:nvSpPr>
        <p:spPr>
          <a:xfrm>
            <a:off x="549211" y="1543050"/>
            <a:ext cx="2128198" cy="994411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707110" y="1666494"/>
            <a:ext cx="1819266" cy="2019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STOP 1</a:t>
            </a:r>
            <a:endParaRPr sz="1100"/>
          </a:p>
        </p:txBody>
      </p:sp>
      <p:sp>
        <p:nvSpPr>
          <p:cNvPr id="144" name="Google Shape;144;p26"/>
          <p:cNvSpPr txBox="1"/>
          <p:nvPr/>
        </p:nvSpPr>
        <p:spPr>
          <a:xfrm>
            <a:off x="707110" y="1940813"/>
            <a:ext cx="1819266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Warehouse</a:t>
            </a:r>
            <a:endParaRPr sz="1100"/>
          </a:p>
        </p:txBody>
      </p:sp>
      <p:sp>
        <p:nvSpPr>
          <p:cNvPr id="145" name="Google Shape;145;p26"/>
          <p:cNvSpPr txBox="1"/>
          <p:nvPr/>
        </p:nvSpPr>
        <p:spPr>
          <a:xfrm>
            <a:off x="707110" y="2228849"/>
            <a:ext cx="1819266" cy="19240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REGISTERED</a:t>
            </a:r>
            <a:endParaRPr sz="1100"/>
          </a:p>
        </p:txBody>
      </p:sp>
      <p:sp>
        <p:nvSpPr>
          <p:cNvPr id="146" name="Google Shape;146;p26"/>
          <p:cNvSpPr/>
          <p:nvPr/>
        </p:nvSpPr>
        <p:spPr>
          <a:xfrm>
            <a:off x="3260947" y="1543050"/>
            <a:ext cx="2128197" cy="994411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3418845" y="1666494"/>
            <a:ext cx="1819266" cy="2019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STOP 2</a:t>
            </a:r>
            <a:endParaRPr sz="1100"/>
          </a:p>
        </p:txBody>
      </p:sp>
      <p:sp>
        <p:nvSpPr>
          <p:cNvPr id="148" name="Google Shape;148;p26"/>
          <p:cNvSpPr txBox="1"/>
          <p:nvPr/>
        </p:nvSpPr>
        <p:spPr>
          <a:xfrm>
            <a:off x="3418845" y="1940813"/>
            <a:ext cx="1819266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Sorting Hub</a:t>
            </a:r>
            <a:endParaRPr sz="1100"/>
          </a:p>
        </p:txBody>
      </p:sp>
      <p:sp>
        <p:nvSpPr>
          <p:cNvPr id="149" name="Google Shape;149;p26"/>
          <p:cNvSpPr txBox="1"/>
          <p:nvPr/>
        </p:nvSpPr>
        <p:spPr>
          <a:xfrm>
            <a:off x="3418845" y="2228849"/>
            <a:ext cx="1819266" cy="19240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IN_TRANSIT</a:t>
            </a:r>
            <a:endParaRPr sz="1100"/>
          </a:p>
        </p:txBody>
      </p:sp>
      <p:sp>
        <p:nvSpPr>
          <p:cNvPr id="150" name="Google Shape;150;p26"/>
          <p:cNvSpPr/>
          <p:nvPr/>
        </p:nvSpPr>
        <p:spPr>
          <a:xfrm>
            <a:off x="5972680" y="1543050"/>
            <a:ext cx="2128198" cy="994411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6130579" y="1666494"/>
            <a:ext cx="1819266" cy="2019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STOP 3</a:t>
            </a:r>
            <a:endParaRPr sz="1100"/>
          </a:p>
        </p:txBody>
      </p:sp>
      <p:sp>
        <p:nvSpPr>
          <p:cNvPr id="152" name="Google Shape;152;p26"/>
          <p:cNvSpPr txBox="1"/>
          <p:nvPr/>
        </p:nvSpPr>
        <p:spPr>
          <a:xfrm>
            <a:off x="6130579" y="1940813"/>
            <a:ext cx="1819266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Customer Address</a:t>
            </a:r>
            <a:endParaRPr sz="1100"/>
          </a:p>
        </p:txBody>
      </p:sp>
      <p:sp>
        <p:nvSpPr>
          <p:cNvPr id="153" name="Google Shape;153;p26"/>
          <p:cNvSpPr txBox="1"/>
          <p:nvPr/>
        </p:nvSpPr>
        <p:spPr>
          <a:xfrm>
            <a:off x="6130579" y="2228849"/>
            <a:ext cx="1819266" cy="19240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GB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IN_TRANSIT</a:t>
            </a:r>
            <a:endParaRPr sz="1100"/>
          </a:p>
        </p:txBody>
      </p:sp>
      <p:sp>
        <p:nvSpPr>
          <p:cNvPr id="154" name="Google Shape;154;p26"/>
          <p:cNvSpPr txBox="1"/>
          <p:nvPr/>
        </p:nvSpPr>
        <p:spPr>
          <a:xfrm>
            <a:off x="2766655" y="1851659"/>
            <a:ext cx="343258" cy="4019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300"/>
              <a:buFont typeface="Arial"/>
              <a:buNone/>
            </a:pPr>
            <a:r>
              <a:rPr b="1" i="0" lang="en-GB" sz="23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100"/>
          </a:p>
        </p:txBody>
      </p:sp>
      <p:sp>
        <p:nvSpPr>
          <p:cNvPr id="155" name="Google Shape;155;p26"/>
          <p:cNvSpPr txBox="1"/>
          <p:nvPr/>
        </p:nvSpPr>
        <p:spPr>
          <a:xfrm>
            <a:off x="5478391" y="1851659"/>
            <a:ext cx="343258" cy="4019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300"/>
              <a:buFont typeface="Arial"/>
              <a:buNone/>
            </a:pPr>
            <a:r>
              <a:rPr b="1" i="0" lang="en-GB" sz="23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100"/>
          </a:p>
        </p:txBody>
      </p:sp>
      <p:sp>
        <p:nvSpPr>
          <p:cNvPr id="156" name="Google Shape;156;p26"/>
          <p:cNvSpPr txBox="1"/>
          <p:nvPr/>
        </p:nvSpPr>
        <p:spPr>
          <a:xfrm>
            <a:off x="720840" y="3120390"/>
            <a:ext cx="3638532" cy="79248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At each stop: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1 = Move to next stop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2 = Check current status</a:t>
            </a:r>
            <a:endParaRPr sz="1100"/>
          </a:p>
        </p:txBody>
      </p:sp>
      <p:sp>
        <p:nvSpPr>
          <p:cNvPr id="157" name="Google Shape;157;p26"/>
          <p:cNvSpPr txBox="1"/>
          <p:nvPr/>
        </p:nvSpPr>
        <p:spPr>
          <a:xfrm>
            <a:off x="4839931" y="3120390"/>
            <a:ext cx="3363926" cy="798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At destination: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Confirm delivery → DELIVERED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1300"/>
              <a:buFont typeface="Arial"/>
              <a:buNone/>
            </a:pPr>
            <a:r>
              <a:rPr b="0" i="0" lang="en-GB" sz="13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Otherwise → FAILED_DELIVERY</a:t>
            </a:r>
            <a:endParaRPr sz="1100"/>
          </a:p>
        </p:txBody>
      </p:sp>
      <p:sp>
        <p:nvSpPr>
          <p:cNvPr id="158" name="Google Shape;158;p26"/>
          <p:cNvSpPr txBox="1"/>
          <p:nvPr/>
        </p:nvSpPr>
        <p:spPr>
          <a:xfrm>
            <a:off x="514886" y="4869180"/>
            <a:ext cx="8100878" cy="1733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PROJECT 22  •  COURIER MANAGEMENT SYSTEM</a:t>
            </a:r>
            <a:endParaRPr sz="1100"/>
          </a:p>
        </p:txBody>
      </p:sp>
      <p:sp>
        <p:nvSpPr>
          <p:cNvPr id="159" name="Google Shape;159;p26"/>
          <p:cNvSpPr txBox="1"/>
          <p:nvPr/>
        </p:nvSpPr>
        <p:spPr>
          <a:xfrm>
            <a:off x="8375484" y="4841748"/>
            <a:ext cx="274607" cy="18288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/>
        </p:nvSpPr>
        <p:spPr>
          <a:xfrm>
            <a:off x="480560" y="308610"/>
            <a:ext cx="8169531" cy="4019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4. Java Concepts Used</a:t>
            </a:r>
            <a:endParaRPr sz="1100"/>
          </a:p>
        </p:txBody>
      </p:sp>
      <p:sp>
        <p:nvSpPr>
          <p:cNvPr id="165" name="Google Shape;165;p27"/>
          <p:cNvSpPr txBox="1"/>
          <p:nvPr/>
        </p:nvSpPr>
        <p:spPr>
          <a:xfrm>
            <a:off x="501155" y="788670"/>
            <a:ext cx="8032228" cy="23050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These concepts align with the handout’s Java foundations, selection, and iteration topics.</a:t>
            </a:r>
            <a:endParaRPr sz="1100"/>
          </a:p>
        </p:txBody>
      </p:sp>
      <p:sp>
        <p:nvSpPr>
          <p:cNvPr id="166" name="Google Shape;166;p27"/>
          <p:cNvSpPr/>
          <p:nvPr/>
        </p:nvSpPr>
        <p:spPr>
          <a:xfrm>
            <a:off x="549211" y="1337309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755166" y="1405888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Scanner — reads the parcel ID and user choices.</a:t>
            </a:r>
            <a:endParaRPr sz="1100"/>
          </a:p>
        </p:txBody>
      </p:sp>
      <p:sp>
        <p:nvSpPr>
          <p:cNvPr id="168" name="Google Shape;168;p27"/>
          <p:cNvSpPr/>
          <p:nvPr/>
        </p:nvSpPr>
        <p:spPr>
          <a:xfrm>
            <a:off x="549211" y="1940813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755166" y="2009394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String array — stores the ordered delivery route.</a:t>
            </a:r>
            <a:endParaRPr sz="1100"/>
          </a:p>
        </p:txBody>
      </p:sp>
      <p:sp>
        <p:nvSpPr>
          <p:cNvPr id="170" name="Google Shape;170;p27"/>
          <p:cNvSpPr/>
          <p:nvPr/>
        </p:nvSpPr>
        <p:spPr>
          <a:xfrm>
            <a:off x="549211" y="2544317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755166" y="2612898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while loop — repeats actions until the destination is reached.</a:t>
            </a:r>
            <a:endParaRPr sz="1100"/>
          </a:p>
        </p:txBody>
      </p:sp>
      <p:sp>
        <p:nvSpPr>
          <p:cNvPr id="172" name="Google Shape;172;p27"/>
          <p:cNvSpPr/>
          <p:nvPr/>
        </p:nvSpPr>
        <p:spPr>
          <a:xfrm>
            <a:off x="549211" y="3147822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755166" y="3216401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switch statement — handles move, status, and invalid choices.</a:t>
            </a:r>
            <a:endParaRPr sz="1100"/>
          </a:p>
        </p:txBody>
      </p:sp>
      <p:sp>
        <p:nvSpPr>
          <p:cNvPr id="174" name="Google Shape;174;p27"/>
          <p:cNvSpPr/>
          <p:nvPr/>
        </p:nvSpPr>
        <p:spPr>
          <a:xfrm>
            <a:off x="549211" y="3751325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7"/>
          <p:cNvSpPr txBox="1"/>
          <p:nvPr/>
        </p:nvSpPr>
        <p:spPr>
          <a:xfrm>
            <a:off x="755166" y="3819905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if-else — processes delivery confirmation.</a:t>
            </a:r>
            <a:endParaRPr sz="1100"/>
          </a:p>
        </p:txBody>
      </p:sp>
      <p:sp>
        <p:nvSpPr>
          <p:cNvPr id="176" name="Google Shape;176;p27"/>
          <p:cNvSpPr/>
          <p:nvPr/>
        </p:nvSpPr>
        <p:spPr>
          <a:xfrm>
            <a:off x="549211" y="4354830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755166" y="4423409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equalsIgnoreCase() — accepts YES/yes/Yes without case sensitivity.</a:t>
            </a:r>
            <a:endParaRPr sz="1100"/>
          </a:p>
        </p:txBody>
      </p:sp>
      <p:sp>
        <p:nvSpPr>
          <p:cNvPr id="178" name="Google Shape;178;p27"/>
          <p:cNvSpPr txBox="1"/>
          <p:nvPr/>
        </p:nvSpPr>
        <p:spPr>
          <a:xfrm>
            <a:off x="514886" y="4869180"/>
            <a:ext cx="8100878" cy="1733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PROJECT 22  •  COURIER MANAGEMENT SYSTEM</a:t>
            </a:r>
            <a:endParaRPr sz="1100"/>
          </a:p>
        </p:txBody>
      </p:sp>
      <p:sp>
        <p:nvSpPr>
          <p:cNvPr id="179" name="Google Shape;179;p27"/>
          <p:cNvSpPr txBox="1"/>
          <p:nvPr/>
        </p:nvSpPr>
        <p:spPr>
          <a:xfrm>
            <a:off x="8375484" y="4841748"/>
            <a:ext cx="274607" cy="18288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/>
          <p:nvPr/>
        </p:nvSpPr>
        <p:spPr>
          <a:xfrm>
            <a:off x="480560" y="308610"/>
            <a:ext cx="8169531" cy="4019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5. Improvements in the Updated Version</a:t>
            </a:r>
            <a:endParaRPr sz="1100"/>
          </a:p>
        </p:txBody>
      </p:sp>
      <p:sp>
        <p:nvSpPr>
          <p:cNvPr id="185" name="Google Shape;185;p28"/>
          <p:cNvSpPr txBox="1"/>
          <p:nvPr/>
        </p:nvSpPr>
        <p:spPr>
          <a:xfrm>
            <a:off x="501155" y="788670"/>
            <a:ext cx="8032228" cy="23050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The core project idea and three-stop route are preserved.</a:t>
            </a:r>
            <a:endParaRPr sz="1100"/>
          </a:p>
        </p:txBody>
      </p:sp>
      <p:sp>
        <p:nvSpPr>
          <p:cNvPr id="186" name="Google Shape;186;p28"/>
          <p:cNvSpPr/>
          <p:nvPr/>
        </p:nvSpPr>
        <p:spPr>
          <a:xfrm>
            <a:off x="549211" y="1337309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8"/>
          <p:cNvSpPr txBox="1"/>
          <p:nvPr/>
        </p:nvSpPr>
        <p:spPr>
          <a:xfrm>
            <a:off x="755166" y="1405888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Validates menu input so letters or blank entries do not crash the program.</a:t>
            </a:r>
            <a:endParaRPr sz="1100"/>
          </a:p>
        </p:txBody>
      </p:sp>
      <p:sp>
        <p:nvSpPr>
          <p:cNvPr id="188" name="Google Shape;188;p28"/>
          <p:cNvSpPr/>
          <p:nvPr/>
        </p:nvSpPr>
        <p:spPr>
          <a:xfrm>
            <a:off x="549211" y="1940813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755166" y="2009394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Lets the user check status at every stop, including the destination.</a:t>
            </a:r>
            <a:endParaRPr sz="1100"/>
          </a:p>
        </p:txBody>
      </p:sp>
      <p:sp>
        <p:nvSpPr>
          <p:cNvPr id="190" name="Google Shape;190;p28"/>
          <p:cNvSpPr/>
          <p:nvPr/>
        </p:nvSpPr>
        <p:spPr>
          <a:xfrm>
            <a:off x="549211" y="2544317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8"/>
          <p:cNvSpPr txBox="1"/>
          <p:nvPr/>
        </p:nvSpPr>
        <p:spPr>
          <a:xfrm>
            <a:off x="755166" y="2612898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Prevents moving beyond the final route stop.</a:t>
            </a:r>
            <a:endParaRPr sz="1100"/>
          </a:p>
        </p:txBody>
      </p:sp>
      <p:sp>
        <p:nvSpPr>
          <p:cNvPr id="192" name="Google Shape;192;p28"/>
          <p:cNvSpPr/>
          <p:nvPr/>
        </p:nvSpPr>
        <p:spPr>
          <a:xfrm>
            <a:off x="549211" y="3147822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755166" y="3216401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Repeats delivery confirmation until the user enters yes or no.</a:t>
            </a:r>
            <a:endParaRPr sz="1100"/>
          </a:p>
        </p:txBody>
      </p:sp>
      <p:sp>
        <p:nvSpPr>
          <p:cNvPr id="194" name="Google Shape;194;p28"/>
          <p:cNvSpPr/>
          <p:nvPr/>
        </p:nvSpPr>
        <p:spPr>
          <a:xfrm>
            <a:off x="549211" y="3751325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755166" y="3819905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Displays parcel ID, current location, and final status clearly.</a:t>
            </a:r>
            <a:endParaRPr sz="1100"/>
          </a:p>
        </p:txBody>
      </p:sp>
      <p:sp>
        <p:nvSpPr>
          <p:cNvPr id="196" name="Google Shape;196;p28"/>
          <p:cNvSpPr/>
          <p:nvPr/>
        </p:nvSpPr>
        <p:spPr>
          <a:xfrm>
            <a:off x="549211" y="4354830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755166" y="4423409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Closes the Scanner using try-with-resources.</a:t>
            </a:r>
            <a:endParaRPr sz="1100"/>
          </a:p>
        </p:txBody>
      </p:sp>
      <p:sp>
        <p:nvSpPr>
          <p:cNvPr id="198" name="Google Shape;198;p28"/>
          <p:cNvSpPr txBox="1"/>
          <p:nvPr/>
        </p:nvSpPr>
        <p:spPr>
          <a:xfrm>
            <a:off x="514886" y="4869180"/>
            <a:ext cx="8100878" cy="1733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PROJECT 22  •  COURIER MANAGEMENT SYSTEM</a:t>
            </a:r>
            <a:endParaRPr sz="1100"/>
          </a:p>
        </p:txBody>
      </p:sp>
      <p:sp>
        <p:nvSpPr>
          <p:cNvPr id="199" name="Google Shape;199;p28"/>
          <p:cNvSpPr txBox="1"/>
          <p:nvPr/>
        </p:nvSpPr>
        <p:spPr>
          <a:xfrm>
            <a:off x="8375484" y="4841748"/>
            <a:ext cx="274607" cy="18288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/>
        </p:nvSpPr>
        <p:spPr>
          <a:xfrm>
            <a:off x="480560" y="308610"/>
            <a:ext cx="8169531" cy="4019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6. Core Logic (Updated Java)</a:t>
            </a:r>
            <a:endParaRPr sz="1100"/>
          </a:p>
        </p:txBody>
      </p:sp>
      <p:sp>
        <p:nvSpPr>
          <p:cNvPr id="205" name="Google Shape;205;p29"/>
          <p:cNvSpPr txBox="1"/>
          <p:nvPr/>
        </p:nvSpPr>
        <p:spPr>
          <a:xfrm>
            <a:off x="501155" y="788670"/>
            <a:ext cx="8032228" cy="23050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Full source code is provided separately as Project22_CourierSys.java</a:t>
            </a:r>
            <a:endParaRPr sz="1100"/>
          </a:p>
        </p:txBody>
      </p:sp>
      <p:sp>
        <p:nvSpPr>
          <p:cNvPr id="206" name="Google Shape;206;p29"/>
          <p:cNvSpPr/>
          <p:nvPr/>
        </p:nvSpPr>
        <p:spPr>
          <a:xfrm>
            <a:off x="480561" y="1200150"/>
            <a:ext cx="8203856" cy="318897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9"/>
          <p:cNvSpPr txBox="1"/>
          <p:nvPr/>
        </p:nvSpPr>
        <p:spPr>
          <a:xfrm>
            <a:off x="720840" y="1371600"/>
            <a:ext cx="7688971" cy="288798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700"/>
              <a:buFont typeface="Consolas"/>
              <a:buNone/>
            </a:pPr>
            <a:r>
              <a:rPr b="0" i="0" lang="en-GB" sz="7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String[] route = {"Warehouse", "Sorting Hub", "Customer Address"};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700"/>
              <a:buFont typeface="Consolas"/>
              <a:buNone/>
            </a:pPr>
            <a:r>
              <a:rPr b="0" i="0" lang="en-GB" sz="7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int currentStopIndex = 0;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700"/>
              <a:buFont typeface="Consolas"/>
              <a:buNone/>
            </a:pPr>
            <a:r>
              <a:rPr b="0" i="0" lang="en-GB" sz="7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String status = "REGISTERED";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700"/>
              <a:buFont typeface="Consolas"/>
              <a:buNone/>
            </a:pPr>
            <a:r>
              <a:t/>
            </a:r>
            <a:endParaRPr b="0" i="0" sz="700" u="none" cap="none" strike="noStrike">
              <a:solidFill>
                <a:srgbClr val="F1F5F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700"/>
              <a:buFont typeface="Consolas"/>
              <a:buNone/>
            </a:pPr>
            <a:r>
              <a:rPr b="0" i="0" lang="en-GB" sz="7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while (true) {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700"/>
              <a:buFont typeface="Consolas"/>
              <a:buNone/>
            </a:pPr>
            <a:r>
              <a:rPr b="0" i="0" lang="en-GB" sz="7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System.out.println("Location: " + route[currentStopIndex]);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700"/>
              <a:buFont typeface="Consolas"/>
              <a:buNone/>
            </a:pPr>
            <a:r>
              <a:rPr b="0" i="0" lang="en-GB" sz="7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System.out.println("1 = Move  |  2 = Check status  |  3 = Exit");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700"/>
              <a:buFont typeface="Consolas"/>
              <a:buNone/>
            </a:pPr>
            <a:r>
              <a:rPr b="0" i="0" lang="en-GB" sz="7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// Read and validate menu choice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700"/>
              <a:buFont typeface="Consolas"/>
              <a:buNone/>
            </a:pPr>
            <a:r>
              <a:rPr b="0" i="0" lang="en-GB" sz="7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switch (choice) {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700"/>
              <a:buFont typeface="Consolas"/>
              <a:buNone/>
            </a:pPr>
            <a:r>
              <a:rPr b="0" i="0" lang="en-GB" sz="7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case 1: /* move only if not at destination */ break;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700"/>
              <a:buFont typeface="Consolas"/>
              <a:buNone/>
            </a:pPr>
            <a:r>
              <a:rPr b="0" i="0" lang="en-GB" sz="7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case 2: /* display current status */ break;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700"/>
              <a:buFont typeface="Consolas"/>
              <a:buNone/>
            </a:pPr>
            <a:r>
              <a:rPr b="0" i="0" lang="en-GB" sz="7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case 3: /* exit tracking */ break;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700"/>
              <a:buFont typeface="Consolas"/>
              <a:buNone/>
            </a:pPr>
            <a:r>
              <a:rPr b="0" i="0" lang="en-GB" sz="7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    default: /* show invalid choice */ break;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700"/>
              <a:buFont typeface="Consolas"/>
              <a:buNone/>
            </a:pPr>
            <a:r>
              <a:rPr b="0" i="0" lang="en-GB" sz="7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700"/>
              <a:buFont typeface="Consolas"/>
              <a:buNone/>
            </a:pPr>
            <a:r>
              <a:rPr b="0" i="0" lang="en-GB" sz="7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700"/>
              <a:buFont typeface="Consolas"/>
              <a:buNone/>
            </a:pPr>
            <a:r>
              <a:rPr b="0" i="0" lang="en-GB" sz="7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// At destination, accept yes/no and update final status.</a:t>
            </a:r>
            <a:endParaRPr sz="1100"/>
          </a:p>
        </p:txBody>
      </p:sp>
      <p:sp>
        <p:nvSpPr>
          <p:cNvPr id="208" name="Google Shape;208;p29"/>
          <p:cNvSpPr txBox="1"/>
          <p:nvPr/>
        </p:nvSpPr>
        <p:spPr>
          <a:xfrm>
            <a:off x="514886" y="4869180"/>
            <a:ext cx="8100878" cy="1733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PROJECT 22  •  COURIER MANAGEMENT SYSTEM</a:t>
            </a:r>
            <a:endParaRPr sz="1100"/>
          </a:p>
        </p:txBody>
      </p:sp>
      <p:sp>
        <p:nvSpPr>
          <p:cNvPr id="209" name="Google Shape;209;p29"/>
          <p:cNvSpPr txBox="1"/>
          <p:nvPr/>
        </p:nvSpPr>
        <p:spPr>
          <a:xfrm>
            <a:off x="8375484" y="4841748"/>
            <a:ext cx="274607" cy="18288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/>
        </p:nvSpPr>
        <p:spPr>
          <a:xfrm>
            <a:off x="480560" y="308610"/>
            <a:ext cx="8169531" cy="4019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7. Sample Run</a:t>
            </a:r>
            <a:endParaRPr sz="1100"/>
          </a:p>
        </p:txBody>
      </p:sp>
      <p:sp>
        <p:nvSpPr>
          <p:cNvPr id="215" name="Google Shape;215;p30"/>
          <p:cNvSpPr txBox="1"/>
          <p:nvPr/>
        </p:nvSpPr>
        <p:spPr>
          <a:xfrm>
            <a:off x="501155" y="788670"/>
            <a:ext cx="8032228" cy="23050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Example interaction</a:t>
            </a:r>
            <a:endParaRPr sz="1100"/>
          </a:p>
        </p:txBody>
      </p:sp>
      <p:sp>
        <p:nvSpPr>
          <p:cNvPr id="216" name="Google Shape;216;p30"/>
          <p:cNvSpPr/>
          <p:nvPr/>
        </p:nvSpPr>
        <p:spPr>
          <a:xfrm>
            <a:off x="549211" y="1165860"/>
            <a:ext cx="8032228" cy="3326131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0"/>
          <p:cNvSpPr txBox="1"/>
          <p:nvPr/>
        </p:nvSpPr>
        <p:spPr>
          <a:xfrm>
            <a:off x="960216" y="1236917"/>
            <a:ext cx="8169531" cy="307848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600"/>
              <a:buFont typeface="Consolas"/>
              <a:buNone/>
            </a:pPr>
            <a:r>
              <a:rPr b="0" i="0" lang="en-GB" sz="6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Enter Parcel ID: PKG1024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600"/>
              <a:buFont typeface="Consolas"/>
              <a:buNone/>
            </a:pPr>
            <a:r>
              <a:t/>
            </a:r>
            <a:endParaRPr b="0" i="0" sz="600" u="none" cap="none" strike="noStrike">
              <a:solidFill>
                <a:srgbClr val="F1F5F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600"/>
              <a:buFont typeface="Consolas"/>
              <a:buNone/>
            </a:pPr>
            <a:r>
              <a:rPr b="0" i="0" lang="en-GB" sz="6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--- Assigned Route ---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600"/>
              <a:buFont typeface="Consolas"/>
              <a:buNone/>
            </a:pPr>
            <a:r>
              <a:rPr b="0" i="0" lang="en-GB" sz="6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Stop 1: Warehouse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600"/>
              <a:buFont typeface="Consolas"/>
              <a:buNone/>
            </a:pPr>
            <a:r>
              <a:rPr b="0" i="0" lang="en-GB" sz="6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Stop 2: Sorting Hub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600"/>
              <a:buFont typeface="Consolas"/>
              <a:buNone/>
            </a:pPr>
            <a:r>
              <a:rPr b="0" i="0" lang="en-GB" sz="6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Stop 3: Customer Address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600"/>
              <a:buFont typeface="Consolas"/>
              <a:buNone/>
            </a:pPr>
            <a:r>
              <a:t/>
            </a:r>
            <a:endParaRPr b="0" i="0" sz="600" u="none" cap="none" strike="noStrike">
              <a:solidFill>
                <a:srgbClr val="F1F5F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600"/>
              <a:buFont typeface="Consolas"/>
              <a:buNone/>
            </a:pPr>
            <a:r>
              <a:rPr b="0" i="0" lang="en-GB" sz="6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Current location: Warehouse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600"/>
              <a:buFont typeface="Consolas"/>
              <a:buNone/>
            </a:pPr>
            <a:r>
              <a:rPr b="0" i="0" lang="en-GB" sz="6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Enter action: 1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600"/>
              <a:buFont typeface="Consolas"/>
              <a:buNone/>
            </a:pPr>
            <a:r>
              <a:rPr b="0" i="0" lang="en-GB" sz="6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Package moved to: Sorting Hub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600"/>
              <a:buFont typeface="Consolas"/>
              <a:buNone/>
            </a:pPr>
            <a:r>
              <a:rPr b="0" i="0" lang="en-GB" sz="6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Status: IN_TRANSIT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600"/>
              <a:buFont typeface="Consolas"/>
              <a:buNone/>
            </a:pPr>
            <a:r>
              <a:t/>
            </a:r>
            <a:endParaRPr b="0" i="0" sz="600" u="none" cap="none" strike="noStrike">
              <a:solidFill>
                <a:srgbClr val="F1F5F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600"/>
              <a:buFont typeface="Consolas"/>
              <a:buNone/>
            </a:pPr>
            <a:r>
              <a:rPr b="0" i="0" lang="en-GB" sz="6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Current location: Sorting Hub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600"/>
              <a:buFont typeface="Consolas"/>
              <a:buNone/>
            </a:pPr>
            <a:r>
              <a:rPr b="0" i="0" lang="en-GB" sz="6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Enter action: 1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600"/>
              <a:buFont typeface="Consolas"/>
              <a:buNone/>
            </a:pPr>
            <a:r>
              <a:rPr b="0" i="0" lang="en-GB" sz="6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Package moved to: Customer Address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600"/>
              <a:buFont typeface="Consolas"/>
              <a:buNone/>
            </a:pPr>
            <a:r>
              <a:t/>
            </a:r>
            <a:endParaRPr b="0" i="0" sz="600" u="none" cap="none" strike="noStrike">
              <a:solidFill>
                <a:srgbClr val="F1F5F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600"/>
              <a:buFont typeface="Consolas"/>
              <a:buNone/>
            </a:pPr>
            <a:r>
              <a:rPr b="0" i="0" lang="en-GB" sz="6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Confirm delivery? (yes/no): yes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1F5F9"/>
              </a:buClr>
              <a:buSzPts val="600"/>
              <a:buFont typeface="Consolas"/>
              <a:buNone/>
            </a:pPr>
            <a:r>
              <a:rPr b="0" i="0" lang="en-GB" sz="600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SUCCESS: Parcel PKG1024 is marked as DELIVERED.</a:t>
            </a:r>
            <a:endParaRPr sz="1100"/>
          </a:p>
        </p:txBody>
      </p:sp>
      <p:sp>
        <p:nvSpPr>
          <p:cNvPr id="218" name="Google Shape;218;p30"/>
          <p:cNvSpPr txBox="1"/>
          <p:nvPr/>
        </p:nvSpPr>
        <p:spPr>
          <a:xfrm>
            <a:off x="514886" y="4869180"/>
            <a:ext cx="8100878" cy="1733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PROJECT 22  •  COURIER MANAGEMENT SYSTEM</a:t>
            </a:r>
            <a:endParaRPr sz="1100"/>
          </a:p>
        </p:txBody>
      </p:sp>
      <p:sp>
        <p:nvSpPr>
          <p:cNvPr id="219" name="Google Shape;219;p30"/>
          <p:cNvSpPr txBox="1"/>
          <p:nvPr/>
        </p:nvSpPr>
        <p:spPr>
          <a:xfrm>
            <a:off x="8375484" y="4841748"/>
            <a:ext cx="274607" cy="18288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/>
        </p:nvSpPr>
        <p:spPr>
          <a:xfrm>
            <a:off x="480560" y="308610"/>
            <a:ext cx="8169531" cy="4019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2200"/>
              <a:buFont typeface="Arial"/>
              <a:buNone/>
            </a:pPr>
            <a:r>
              <a:rPr b="1" i="0" lang="en-GB" sz="22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8. Conclusion &amp; Future Scope</a:t>
            </a:r>
            <a:endParaRPr sz="1100"/>
          </a:p>
        </p:txBody>
      </p:sp>
      <p:sp>
        <p:nvSpPr>
          <p:cNvPr id="225" name="Google Shape;225;p31"/>
          <p:cNvSpPr txBox="1"/>
          <p:nvPr/>
        </p:nvSpPr>
        <p:spPr>
          <a:xfrm>
            <a:off x="501155" y="788670"/>
            <a:ext cx="8032228" cy="23050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GB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100"/>
          </a:p>
        </p:txBody>
      </p:sp>
      <p:sp>
        <p:nvSpPr>
          <p:cNvPr id="226" name="Google Shape;226;p31"/>
          <p:cNvSpPr/>
          <p:nvPr/>
        </p:nvSpPr>
        <p:spPr>
          <a:xfrm>
            <a:off x="549211" y="1337309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1"/>
          <p:cNvSpPr txBox="1"/>
          <p:nvPr/>
        </p:nvSpPr>
        <p:spPr>
          <a:xfrm>
            <a:off x="755166" y="1405888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The project demonstrates a basic end-to-end parcel tracking flow.</a:t>
            </a:r>
            <a:endParaRPr sz="1100"/>
          </a:p>
        </p:txBody>
      </p:sp>
      <p:sp>
        <p:nvSpPr>
          <p:cNvPr id="228" name="Google Shape;228;p31"/>
          <p:cNvSpPr/>
          <p:nvPr/>
        </p:nvSpPr>
        <p:spPr>
          <a:xfrm>
            <a:off x="549211" y="1940813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1"/>
          <p:cNvSpPr txBox="1"/>
          <p:nvPr/>
        </p:nvSpPr>
        <p:spPr>
          <a:xfrm>
            <a:off x="755166" y="2009394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It uses core Java concepts to model route progression and delivery outcomes.</a:t>
            </a:r>
            <a:endParaRPr sz="1100"/>
          </a:p>
        </p:txBody>
      </p:sp>
      <p:sp>
        <p:nvSpPr>
          <p:cNvPr id="230" name="Google Shape;230;p31"/>
          <p:cNvSpPr/>
          <p:nvPr/>
        </p:nvSpPr>
        <p:spPr>
          <a:xfrm>
            <a:off x="549211" y="2544317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1"/>
          <p:cNvSpPr txBox="1"/>
          <p:nvPr/>
        </p:nvSpPr>
        <p:spPr>
          <a:xfrm>
            <a:off x="755166" y="2612898"/>
            <a:ext cx="7894760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Future scope: store multiple parcels, add estimated delivery time, and save tracking history to a file.</a:t>
            </a:r>
            <a:endParaRPr sz="1100"/>
          </a:p>
        </p:txBody>
      </p:sp>
      <p:sp>
        <p:nvSpPr>
          <p:cNvPr id="232" name="Google Shape;232;p31"/>
          <p:cNvSpPr/>
          <p:nvPr/>
        </p:nvSpPr>
        <p:spPr>
          <a:xfrm>
            <a:off x="549211" y="3147822"/>
            <a:ext cx="8066553" cy="459487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1"/>
          <p:cNvSpPr txBox="1"/>
          <p:nvPr/>
        </p:nvSpPr>
        <p:spPr>
          <a:xfrm>
            <a:off x="755166" y="3216401"/>
            <a:ext cx="7551668" cy="2781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•  A real courier platform could connect this logic to a database and a web/mobile interface.</a:t>
            </a:r>
            <a:endParaRPr sz="1100"/>
          </a:p>
        </p:txBody>
      </p:sp>
      <p:sp>
        <p:nvSpPr>
          <p:cNvPr id="234" name="Google Shape;234;p31"/>
          <p:cNvSpPr txBox="1"/>
          <p:nvPr/>
        </p:nvSpPr>
        <p:spPr>
          <a:xfrm>
            <a:off x="514886" y="4869180"/>
            <a:ext cx="8100878" cy="1733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Arial"/>
              <a:buNone/>
            </a:pPr>
            <a:r>
              <a:rPr b="0" i="0" lang="en-GB" sz="7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PROJECT 22  •  COURIER MANAGEMENT SYSTEM</a:t>
            </a:r>
            <a:endParaRPr sz="1100"/>
          </a:p>
        </p:txBody>
      </p:sp>
      <p:sp>
        <p:nvSpPr>
          <p:cNvPr id="235" name="Google Shape;235;p31"/>
          <p:cNvSpPr txBox="1"/>
          <p:nvPr/>
        </p:nvSpPr>
        <p:spPr>
          <a:xfrm>
            <a:off x="8375484" y="4841748"/>
            <a:ext cx="274607" cy="18288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00"/>
              <a:buFont typeface="Arial"/>
              <a:buNone/>
            </a:pPr>
            <a:r>
              <a:rPr b="1" i="0" lang="en-GB" sz="8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/>
          <p:nvPr/>
        </p:nvSpPr>
        <p:spPr>
          <a:xfrm>
            <a:off x="374951" y="1222936"/>
            <a:ext cx="8169531" cy="744856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4400"/>
              <a:buFont typeface="Arial"/>
              <a:buNone/>
            </a:pPr>
            <a:r>
              <a:rPr b="1" i="0" lang="en-GB" sz="44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THANK YOU </a:t>
            </a:r>
            <a:endParaRPr sz="1100"/>
          </a:p>
        </p:txBody>
      </p:sp>
      <p:sp>
        <p:nvSpPr>
          <p:cNvPr id="241" name="Google Shape;241;p32"/>
          <p:cNvSpPr txBox="1"/>
          <p:nvPr/>
        </p:nvSpPr>
        <p:spPr>
          <a:xfrm>
            <a:off x="337504" y="2417293"/>
            <a:ext cx="8585390" cy="50673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0" i="0" lang="en-GB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We hope our Courier Management System demonstrates how Java can be used to simplify parcel tracking and delivery management.</a:t>
            </a:r>
            <a:endParaRPr sz="1100"/>
          </a:p>
        </p:txBody>
      </p:sp>
      <p:sp>
        <p:nvSpPr>
          <p:cNvPr id="242" name="Google Shape;242;p32"/>
          <p:cNvSpPr txBox="1"/>
          <p:nvPr/>
        </p:nvSpPr>
        <p:spPr>
          <a:xfrm>
            <a:off x="4066610" y="2670196"/>
            <a:ext cx="1127178" cy="449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900"/>
              <a:buFont typeface="Times"/>
              <a:buNone/>
            </a:pPr>
            <a:r>
              <a:rPr b="1" i="0" lang="en-GB" sz="900" u="none" cap="none" strike="noStrike">
                <a:solidFill>
                  <a:srgbClr val="DDDDDD"/>
                </a:solidFill>
                <a:latin typeface="Times"/>
                <a:ea typeface="Times"/>
                <a:cs typeface="Times"/>
                <a:sym typeface="Times"/>
              </a:rPr>
              <a:t>Questions &amp; Answers</a:t>
            </a:r>
            <a:endParaRPr b="0" i="0" sz="900" u="none" cap="none" strike="noStrike">
              <a:solidFill>
                <a:srgbClr val="DDDDDD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3" name="Google Shape;243;p32"/>
          <p:cNvSpPr txBox="1"/>
          <p:nvPr/>
        </p:nvSpPr>
        <p:spPr>
          <a:xfrm>
            <a:off x="3479821" y="4316278"/>
            <a:ext cx="2300757" cy="449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A7A7"/>
              </a:buClr>
              <a:buSzPts val="900"/>
              <a:buFont typeface="Times"/>
              <a:buNone/>
            </a:pPr>
            <a:r>
              <a:rPr b="0" i="1" lang="en-GB" sz="900" u="none" cap="none" strike="noStrike">
                <a:solidFill>
                  <a:srgbClr val="A7A7A7"/>
                </a:solidFill>
                <a:latin typeface="Times"/>
                <a:ea typeface="Times"/>
                <a:cs typeface="Times"/>
                <a:sym typeface="Times"/>
              </a:rPr>
              <a:t>Presented by: Krishna Praneeth, Paurush Sirohi</a:t>
            </a:r>
            <a:endParaRPr b="0" i="0" sz="900" u="none" cap="none" strike="noStrike">
              <a:solidFill>
                <a:srgbClr val="A7A7A7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